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EVALAI PRO • MULTI-AGENT EDTECH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</a:defRPr>
            </a:pPr>
            <a:r>
              <a:t>Corrigez 60 copies en 5 minutes.</a:t>
            </a:r>
            <a:br/>
            <a:r>
              <a:t>Avec la rigueur d'un jury académique.</a:t>
            </a:r>
          </a:p>
          <a:p>
            <a:pPr>
              <a:spcBef>
                <a:spcPts val="1600"/>
              </a:spcBef>
              <a:defRPr sz="1500">
                <a:solidFill>
                  <a:srgbClr val="9CA3AF"/>
                </a:solidFill>
              </a:defRPr>
            </a:pPr>
            <a:r>
              <a:t>Le premier système multi-agents qui décompose vos énoncés, audite le code sans complaisance, élimine le plagiat et accompagne chaque apprenant de 8 à 88 ans.</a:t>
            </a:r>
          </a:p>
          <a:p>
            <a:pPr>
              <a:spcBef>
                <a:spcPts val="2400"/>
              </a:spcBef>
              <a:defRPr sz="1200">
                <a:solidFill>
                  <a:srgbClr val="F59E0B"/>
                </a:solidFill>
              </a:defRPr>
            </a:pPr>
            <a:r>
              <a:t>🚀 YC Pitch Deck Edition  •  ⚡ Multi-Agent Consensus  •  🛡️ Anti-Cheat &amp; Plagiat</a:t>
            </a:r>
          </a:p>
        </p:txBody>
      </p:sp>
      <p:pic>
        <p:nvPicPr>
          <p:cNvPr id="4" name="Picture 3" descr="edtech_promo_banner_17907635077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484632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LE PROBLÈME : LA CRISE DE L'ÉVALUATION ET DU TEMPS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Pourquoi les approches actuelles échouent dans l'enseignement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1460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6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⏳ Le Week-end Volé</a:t>
            </a:r>
          </a:p>
          <a:p>
            <a:pPr>
              <a:spcBef>
                <a:spcPts val="1400"/>
              </a:spcBef>
              <a:defRPr sz="1300">
                <a:solidFill>
                  <a:srgbClr val="9CA3AF"/>
                </a:solidFill>
              </a:defRPr>
            </a:pPr>
            <a:r>
              <a:t>15 à 20 heures par semaine passées à relire du code rébarbatif, créant une fatigue mentale et un feedback en retard.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1460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6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286000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🤖 Les LLM Naïfs &amp; Complaisants</a:t>
            </a:r>
          </a:p>
          <a:p>
            <a:pPr>
              <a:spcBef>
                <a:spcPts val="1400"/>
              </a:spcBef>
              <a:defRPr sz="1300">
                <a:solidFill>
                  <a:srgbClr val="9CA3AF"/>
                </a:solidFill>
              </a:defRPr>
            </a:pPr>
            <a:r>
              <a:t>Un prompt unique donne 16/20 à tout le monde, ignore les bugs sournois et hallucine sur les justifications.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1460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6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🚨 La Fraude &amp; Copier-Coller</a:t>
            </a:r>
          </a:p>
          <a:p>
            <a:pPr>
              <a:spcBef>
                <a:spcPts val="1400"/>
              </a:spcBef>
              <a:defRPr sz="1300">
                <a:solidFill>
                  <a:srgbClr val="9CA3AF"/>
                </a:solidFill>
              </a:defRPr>
            </a:pPr>
            <a:r>
              <a:t>L'essor de ChatGPT incite au 'hardcoding' et au plagiat de masse. Les enseignants sont désarmés face aux soumissions.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011680"/>
            <a:ext cx="251460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6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286000"/>
            <a:ext cx="2148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📉 Le Manque d'Équité</a:t>
            </a:r>
          </a:p>
          <a:p>
            <a:pPr>
              <a:spcBef>
                <a:spcPts val="1400"/>
              </a:spcBef>
              <a:defRPr sz="1300">
                <a:solidFill>
                  <a:srgbClr val="9CA3AF"/>
                </a:solidFill>
              </a:defRPr>
            </a:pPr>
            <a:r>
              <a:t>Le 1er devoir corrigé le samedi matin n'a jamais la même sévérité que le 50ème corrigé le dimanche à 23h.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NOTRE DIFFÉRENCIATION RADICALE : L'ARCHITECTURE MULTI-AGENTS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Un comité d'IA contradictoire au service de la vérité académique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5740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📐 Architecte Pédagogique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Lit l'énoncé brut (PDF/MD)</a:t>
            </a:r>
            <a:br/>
            <a:r>
              <a:t>Décompose les notions (Bloom)</a:t>
            </a:r>
            <a:br/>
            <a:r>
              <a:t>Construit la grille JSON stricte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2011680"/>
            <a:ext cx="205740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4952" y="219456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🔍 Auditeur Technique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Vérifie l'exactitude du code</a:t>
            </a:r>
            <a:br/>
            <a:r>
              <a:t>Analyse la complexité et les perfs</a:t>
            </a:r>
            <a:br/>
            <a:r>
              <a:t>Produit des preuves irréfutables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2011680"/>
            <a:ext cx="205740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21224" y="219456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😈 Challenger Sceptique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Traque le plagiat et le hardcoding</a:t>
            </a:r>
            <a:br/>
            <a:r>
              <a:t>Teste les cas limites (edge cases)</a:t>
            </a:r>
            <a:br/>
            <a:r>
              <a:t>Conteste toute note non méritée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2011680"/>
            <a:ext cx="205740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97496" y="219456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⚖️ Juge Arbitre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Harmonise les avis contradictoires</a:t>
            </a:r>
            <a:br/>
            <a:r>
              <a:t>Fixe la note finale certifiée</a:t>
            </a:r>
            <a:br/>
            <a:r>
              <a:t>Garantit l'égalité inter-élèves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2011680"/>
            <a:ext cx="2057400" cy="402336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7" y="2194560"/>
            <a:ext cx="1783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💡 Mentor Bienveillant</a:t>
            </a:r>
          </a:p>
          <a:p>
            <a:pPr>
              <a:spcBef>
                <a:spcPts val="1200"/>
              </a:spcBef>
              <a:defRPr sz="1200">
                <a:solidFill>
                  <a:srgbClr val="9CA3AF"/>
                </a:solidFill>
              </a:defRPr>
            </a:pPr>
            <a:r>
              <a:t>Traduit le verdict en feedforward</a:t>
            </a:r>
            <a:br/>
            <a:r>
              <a:t>Conseils personnalisés d'apprentissage</a:t>
            </a:r>
            <a:br/>
            <a:r>
              <a:t>Micro-défis pour progresser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BUSINESS MODEL : DU PRODUCT-LED GROWTH AU CONTRAT B2B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Une mécanique virale gratuite, une monétisation naturelle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2900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CA3AF"/>
                </a:solidFill>
              </a:defRPr>
            </a:pPr>
            <a:r>
              <a:t>Plan Gratuit (Hook)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</a:defRPr>
            </a:pPr>
            <a:r>
              <a:t>0 € / mois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2 devoirs / mois (max 25 copies)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Pipeline mono-agent rapide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Upload d'énoncé PDF simple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Export CSV basique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Objectif : Virilité &amp; adoption solo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42900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10312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D4FF"/>
                </a:solidFill>
              </a:defRPr>
            </a:pPr>
            <a:r>
              <a:t>Plan Pro Teacher (Cœur)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</a:defRPr>
            </a:pPr>
            <a:r>
              <a:t>29 € à 49 € / mois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Devoirs &amp; copies illimités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Moteur Multi-Agents (MAS) complet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Détection Plagiat temporelle (qui a copié)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Rapports détaillés &amp; emailing étudiants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Objectif : Le 'must-have' du prof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920240"/>
            <a:ext cx="3429000" cy="42062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10312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Plan Campus / Bootcamp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</a:defRPr>
            </a:pPr>
            <a:r>
              <a:t>2 000 € à 10 000 € / an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Départements entiers &amp; multi-profs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Plagiat cross-promotions (3 ans)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Intégration native LMS (Moodle/Canvas)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Dashboard Directeur des Études</a:t>
            </a:r>
          </a:p>
          <a:p>
            <a:pPr>
              <a:spcBef>
                <a:spcPts val="800"/>
              </a:spcBef>
              <a:defRPr sz="1300">
                <a:solidFill>
                  <a:srgbClr val="9CA3AF"/>
                </a:solidFill>
              </a:defRPr>
            </a:pPr>
            <a:r>
              <a:t>• Souveraineté des données &amp; SLA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EXPANSION B2C : L'ÉDUCATION POUR TOUS (EXEMPLE ENFANT DE 8 ANS)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Comment le MAS transforme la pensée informatique en jeu d'aventure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D4FF"/>
                </a:solidFill>
              </a:defRPr>
            </a:pPr>
            <a:r>
              <a:t>🤖 Le Mentor Robot Bienveillant</a:t>
            </a:r>
          </a:p>
          <a:p>
            <a:pPr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Parle à l'enfant avec douceur : 'Bravo pour ta fusée ! Peux-tu faire faire deux tours supplémentaires à ton robot ?'</a:t>
            </a:r>
          </a:p>
          <a:p>
            <a:pPr>
              <a:spcBef>
                <a:spcPts val="1000"/>
              </a:spcBef>
              <a:defRPr sz="1500" b="1">
                <a:solidFill>
                  <a:srgbClr val="00D4FF"/>
                </a:solidFill>
              </a:defRPr>
            </a:pPr>
            <a:r>
              <a:t>👾 Le Monstre 'Edge-Case Max'</a:t>
            </a:r>
          </a:p>
          <a:p>
            <a:pPr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Le rôle du Challenger devient un boss de jeu vidéo : 'J'ai caché un rocher sur ta route, ton code va-t-il l'éviter ?'</a:t>
            </a:r>
          </a:p>
          <a:p>
            <a:pPr>
              <a:spcBef>
                <a:spcPts val="1000"/>
              </a:spcBef>
              <a:defRPr sz="1500" b="1">
                <a:solidFill>
                  <a:srgbClr val="00D4FF"/>
                </a:solidFill>
              </a:defRPr>
            </a:pPr>
            <a:r>
              <a:t>🧩 Décomposition Conceptuelle en Puzzles</a:t>
            </a:r>
          </a:p>
          <a:p>
            <a:pPr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Pas de syntaxe brute : boucles, conditions et variables deviennent des briques visuelles et des quêtes.</a:t>
            </a:r>
          </a:p>
          <a:p>
            <a:pPr>
              <a:spcBef>
                <a:spcPts val="1000"/>
              </a:spcBef>
              <a:defRPr sz="1500" b="1">
                <a:solidFill>
                  <a:srgbClr val="00D4FF"/>
                </a:solidFill>
              </a:defRPr>
            </a:pPr>
            <a:r>
              <a:t>❤️ La Rétention Parentale (Volonté de Payer)</a:t>
            </a:r>
          </a:p>
          <a:p>
            <a:pPr>
              <a:spcBef>
                <a:spcPts val="300"/>
              </a:spcBef>
              <a:defRPr sz="1200">
                <a:solidFill>
                  <a:srgbClr val="9CA3AF"/>
                </a:solidFill>
              </a:defRPr>
            </a:pPr>
            <a:r>
              <a:t>Les parents payent 20€ à 50€/mois pour un tuteur IA stimulant qui apprend à réfléchir plutôt qu'à consommer passivement.</a:t>
            </a:r>
          </a:p>
        </p:txBody>
      </p:sp>
      <p:pic>
        <p:nvPicPr>
          <p:cNvPr id="5" name="Picture 4" descr="kids_edtech_gamified_17907649747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</a:defRPr>
            </a:pPr>
            <a:r>
              <a:t>ROADMAP STRATÉGIQUE &amp; NORTH STAR METRIC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Notre plan d'exécution pour devenir la référence mondiale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1460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6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Mois 1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Étape 1 : Validation ENIT</a:t>
            </a:r>
          </a:p>
          <a:p>
            <a:pPr>
              <a:spcBef>
                <a:spcPts val="1400"/>
              </a:spcBef>
              <a:defRPr sz="1200">
                <a:solidFill>
                  <a:srgbClr val="9CA3AF"/>
                </a:solidFill>
              </a:defRPr>
            </a:pPr>
            <a:r>
              <a:t>Tester sur 100+ copies réelles d'ingénieurs à l'ENIT. Valider un taux d'agrément enseignant &gt; 90%.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1460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6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19456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Mois 2-3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Étape 2 : Lancement Freemium</a:t>
            </a:r>
          </a:p>
          <a:p>
            <a:pPr>
              <a:spcBef>
                <a:spcPts val="1400"/>
              </a:spcBef>
              <a:defRPr sz="1200">
                <a:solidFill>
                  <a:srgbClr val="9CA3AF"/>
                </a:solidFill>
              </a:defRPr>
            </a:pPr>
            <a:r>
              <a:t>Mise en ligne de l'outil self-serve pour 50 profs de fac/bootcamps. Mesurer le Weekly Active Teachers.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11680"/>
            <a:ext cx="251460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6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9456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Mois 4-6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Étape 3 : Module CodeQuest Kids</a:t>
            </a:r>
          </a:p>
          <a:p>
            <a:pPr>
              <a:spcBef>
                <a:spcPts val="1400"/>
              </a:spcBef>
              <a:defRPr sz="1200">
                <a:solidFill>
                  <a:srgbClr val="9CA3AF"/>
                </a:solidFill>
              </a:defRPr>
            </a:pPr>
            <a:r>
              <a:t>Déclinaison de l'interface pour les 8-14 ans. Lancement pilote auprès de 100 familles.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011680"/>
            <a:ext cx="2514600" cy="39319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161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19456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Mois 6+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Étape 4 : Déploiement Enterprise</a:t>
            </a:r>
          </a:p>
          <a:p>
            <a:pPr>
              <a:spcBef>
                <a:spcPts val="1400"/>
              </a:spcBef>
              <a:defRPr sz="1200">
                <a:solidFill>
                  <a:srgbClr val="9CA3AF"/>
                </a:solidFill>
              </a:defRPr>
            </a:pPr>
            <a:r>
              <a:t>Signature des 3 premières universités et bootcamps tech majeurs en abonnement annuel.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